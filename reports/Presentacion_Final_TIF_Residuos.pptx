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♻️ Clasificación Automática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7E22"/>
                </a:solidFill>
                <a:latin typeface="Calibri"/>
              </a:rPr>
              <a:t>de Residuos para Reciclaje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Sistema de IA Aplicada · Trabajo Integrador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María Claudia Fabián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0C0C0"/>
                </a:solidFill>
                <a:latin typeface="Calibri"/>
              </a:rPr>
              <a:t>Modelado de Sistemas de IA Aplicada · UPATecO Salta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0C0C0"/>
                </a:solidFill>
                <a:latin typeface="Calibri"/>
              </a:rPr>
              <a:t>Formador: Lic. Walter Gabriel Ramirez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¿Qué problema resolvemos?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Clasificación automática de residuos para reciclaje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La gestión de residuos es uno de los grandes desafíos ambientales.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Las plantas de recuperación y los contenedores inteligentes pueden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beneficiarse de un sistema que clasifique automáticamente.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468880" cy="1828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000000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Clases de
residuos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926080"/>
            <a:ext cx="2468880" cy="1828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000000"/>
                </a:solidFill>
                <a:latin typeface="Calibri"/>
              </a:rPr>
              <a:t>570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069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Imágenes usadas
(&gt;200 mín. TIF)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926080"/>
            <a:ext cx="2468880" cy="1828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32004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27AE60"/>
                </a:solidFill>
                <a:latin typeface="Calibri"/>
              </a:rPr>
              <a:t>48,1 %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69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Accuracy en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926080"/>
            <a:ext cx="2468880" cy="18288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004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E67E22"/>
                </a:solidFill>
                <a:latin typeface="Calibri"/>
              </a:rPr>
              <a:t>× 4,3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0690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Calibri"/>
              </a:rPr>
              <a:t>Mejor que el azar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Pregunta de investigación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Dada una foto de un residuo, ¿podemos clasificar entre 9 categorías de materiales?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RealWaste · UCI Machine Learning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Origen: Whyte's Gully Waste &amp; Resource Recovery (Australia)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4.752 imágenes totales · subset usado: 570 (435 train + 135 test)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9 clases: Cardboard, Food Organics, Glass, Metal, Misc Trash,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    Paper, Plastic, Textile Trash, Vegetation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Resolución original 524×524 → redimensionada a 64×64 para CPU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Licencia Creative Commons Attribution 4.0</a:t>
            </a:r>
          </a:p>
        </p:txBody>
      </p:sp>
      <p:pic>
        <p:nvPicPr>
          <p:cNvPr id="7" name="Picture 6" descr="05_muestras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185928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Pipeline (Ciclo 3 - Visión)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Transfer Learning con MobileNetV2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194560" cy="11887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Imágenes
Residuos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697480"/>
            <a:ext cx="91440" cy="36576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2194560" cy="11887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Augmentación
(flip, rotate)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37760" y="2697480"/>
            <a:ext cx="91440" cy="36576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2286000"/>
            <a:ext cx="2194560" cy="11887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MobileNetV2
Frozen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23760" y="2697480"/>
            <a:ext cx="91440" cy="36576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2286000"/>
            <a:ext cx="2194560" cy="11887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Fine-tuning
9 clases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509760" y="2697480"/>
            <a:ext cx="91440" cy="365760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0" y="2286000"/>
            <a:ext cx="2194560" cy="11887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6060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App Streamlit
(uploader)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Calibri"/>
              </a:rPr>
              <a:t>Stack: Python · PyTorch · torchvision · Streamlit · MobileNetV2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Calibri"/>
              </a:rPr>
              <a:t>2 fases: features frozen (LR=1e-3) → fine-tuning últimas 30 capas (LR=1e-4)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Mejora sostenida en 4 épocas</a:t>
            </a:r>
          </a:p>
        </p:txBody>
      </p:sp>
      <p:pic>
        <p:nvPicPr>
          <p:cNvPr id="6" name="Picture 5" descr="01_curvas_entren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315200" cy="2537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Métricas finales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  <a:latin typeface="Calibri"/>
              </a:rPr>
              <a:t>• Accuracy: 48,1%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  <a:latin typeface="Calibri"/>
              </a:rPr>
              <a:t>• F1 macro: 0,459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  <a:latin typeface="Calibri"/>
              </a:rPr>
              <a:t>• Random: 11,1%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A5568"/>
                </a:solidFill>
                <a:latin typeface="Calibri"/>
              </a:rPr>
              <a:t>• Mejora: × 4,3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Evaluación detallada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Matriz 9×9 + Curvas ROC</a:t>
            </a:r>
          </a:p>
        </p:txBody>
      </p:sp>
      <p:pic>
        <p:nvPicPr>
          <p:cNvPr id="6" name="Picture 5" descr="02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183877" cy="5029200"/>
          </a:xfrm>
          <a:prstGeom prst="rect">
            <a:avLst/>
          </a:prstGeom>
        </p:spPr>
      </p:pic>
      <p:pic>
        <p:nvPicPr>
          <p:cNvPr id="7" name="Picture 6" descr="03_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6975346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Aplicación local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Upload → Predicción → Recomendación</a:t>
            </a:r>
          </a:p>
        </p:txBody>
      </p:sp>
      <p:pic>
        <p:nvPicPr>
          <p:cNvPr id="6" name="Picture 5" descr="app_screenshot_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Funcionalidad: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4A5568"/>
                </a:solidFill>
                <a:latin typeface="Calibri"/>
              </a:rPr>
              <a:t>• Upload imagen JPG/PNG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4A5568"/>
                </a:solidFill>
                <a:latin typeface="Calibri"/>
              </a:rPr>
              <a:t>• Predicción + probabilidad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4A5568"/>
                </a:solidFill>
                <a:latin typeface="Calibri"/>
              </a:rPr>
              <a:t>• Bar chart con 9 clases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4A5568"/>
                </a:solidFill>
                <a:latin typeface="Calibri"/>
              </a:rPr>
              <a:t>• Recomendación de reciclaje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4A5568"/>
                </a:solidFill>
                <a:latin typeface="Calibri"/>
              </a:rPr>
              <a:t>• (qué contenedor usar)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4A5568"/>
                </a:solidFill>
                <a:latin typeface="Calibri"/>
              </a:rPr>
              <a:t>• Caveat ético siempre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Límites y consideraciones éticas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Lo que el sistema NO sabe hacer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486400" cy="12801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Generalización limitada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Dataset australiano. Empaques argentinos pueden ser distintos.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12801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Calibri"/>
              </a:rPr>
              <a:t>Solo 9 clases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RAEE, peligrosos, médicos NO se clasifican. Verificar normativa local.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5486400" cy="12801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Imágenes controladas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Entrenado con fondo plano. Fotos en contenedores reales pueden degradar.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5486400" cy="12801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34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Subset reducido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0040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Calibri"/>
              </a:rPr>
              <a:t>570 imágenes vs 4.752 del dataset completo. Más datos = más accuracy.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Posicionamiento ético: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Calibri"/>
              </a:rPr>
              <a:t>Es una HERRAMIENTA EDUCATIVA y de TRIAGE rápido. NO reemplaza el etiquetado oficial.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Conclusiones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0C0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Calibri"/>
              </a:rPr>
              <a:t>Lo que logramos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Sistema completo CRISP-DM end-to-end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MobileNetV2 + Transfer Learning (2 fases)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48,1% accuracy / 0,459 F1 macro (4× random)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App Streamlit con upload + recomendación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Documentación profesional + APA +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Próximos pasos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Entrenar con dataset completo (4.752 imgs)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Recolectar imágenes argentinas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Implementar Grad-CAM para explicabilidad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Versión móvil para uso en campo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A5568"/>
                </a:solidFill>
                <a:latin typeface="Calibri"/>
              </a:rPr>
              <a:t>• Agregar más clases (RAEE, peligrosos)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A0A0A0"/>
                </a:solidFill>
                <a:latin typeface="Calibri"/>
              </a:rPr>
              <a:t>TIF · Residuos · UPATecO 2026 —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E67E22"/>
                </a:solidFill>
                <a:latin typeface="Calibri"/>
              </a:rPr>
              <a:t>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María Claudia Fabián · TIF UPATecO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0C0C0"/>
                </a:solidFill>
                <a:latin typeface="Calibri"/>
              </a:rPr>
              <a:t>Dataset: RealWaste · UCI ML Repository ·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